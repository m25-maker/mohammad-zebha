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-13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57231"/>
            <a:ext cx="8229600" cy="3350060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b="1" dirty="0" smtClean="0">
                <a:latin typeface="Calisto MT" pitchFamily="18" charset="0"/>
              </a:rPr>
              <a:t>Topic</a:t>
            </a:r>
            <a:r>
              <a:rPr lang="en-US" b="1" dirty="0" smtClean="0">
                <a:latin typeface="Calisto MT" pitchFamily="18" charset="0"/>
              </a:rPr>
              <a:t> </a:t>
            </a:r>
            <a:r>
              <a:rPr dirty="0" smtClean="0">
                <a:latin typeface="Calisto MT" pitchFamily="18" charset="0"/>
              </a:rPr>
              <a:t>: </a:t>
            </a:r>
            <a:r>
              <a:rPr b="1" dirty="0">
                <a:latin typeface="Calisto MT" pitchFamily="18" charset="0"/>
              </a:rPr>
              <a:t>Student Enrollment &amp; Retention </a:t>
            </a:r>
            <a:r>
              <a:rPr b="1" dirty="0" smtClean="0">
                <a:latin typeface="Calisto MT" pitchFamily="18" charset="0"/>
              </a:rPr>
              <a:t>Prediction</a:t>
            </a:r>
            <a:r>
              <a:rPr lang="en-US" dirty="0" smtClean="0">
                <a:latin typeface="Calisto MT" pitchFamily="18" charset="0"/>
              </a:rPr>
              <a:t>.</a:t>
            </a:r>
            <a:endParaRPr dirty="0">
              <a:latin typeface="Calisto MT" pitchFamily="18" charset="0"/>
            </a:endParaRPr>
          </a:p>
          <a:p>
            <a:r>
              <a:rPr b="1" dirty="0" smtClean="0">
                <a:latin typeface="Calisto MT" pitchFamily="18" charset="0"/>
              </a:rPr>
              <a:t>Organization</a:t>
            </a:r>
            <a:r>
              <a:rPr lang="en-US" dirty="0" smtClean="0">
                <a:latin typeface="Calisto MT" pitchFamily="18" charset="0"/>
              </a:rPr>
              <a:t> </a:t>
            </a:r>
            <a:r>
              <a:rPr dirty="0" smtClean="0">
                <a:latin typeface="Calisto MT" pitchFamily="18" charset="0"/>
              </a:rPr>
              <a:t>: </a:t>
            </a:r>
            <a:r>
              <a:rPr b="1" dirty="0" err="1" smtClean="0">
                <a:latin typeface="Calisto MT" pitchFamily="18" charset="0"/>
              </a:rPr>
              <a:t>SkillHigh</a:t>
            </a:r>
            <a:r>
              <a:rPr lang="en-US" b="1" dirty="0" smtClean="0">
                <a:latin typeface="Calisto MT" pitchFamily="18" charset="0"/>
              </a:rPr>
              <a:t>.</a:t>
            </a:r>
            <a:endParaRPr b="1" dirty="0">
              <a:latin typeface="Calisto MT" pitchFamily="18" charset="0"/>
            </a:endParaRPr>
          </a:p>
          <a:p>
            <a:r>
              <a:rPr b="1" dirty="0" smtClean="0">
                <a:latin typeface="Calisto MT" pitchFamily="18" charset="0"/>
              </a:rPr>
              <a:t>Objective</a:t>
            </a:r>
            <a:r>
              <a:rPr lang="en-US" dirty="0" smtClean="0">
                <a:latin typeface="Calisto MT" pitchFamily="18" charset="0"/>
              </a:rPr>
              <a:t> </a:t>
            </a:r>
            <a:r>
              <a:rPr dirty="0" smtClean="0">
                <a:latin typeface="Calisto MT" pitchFamily="18" charset="0"/>
              </a:rPr>
              <a:t>: </a:t>
            </a:r>
            <a:r>
              <a:rPr dirty="0">
                <a:latin typeface="Calisto MT" pitchFamily="18" charset="0"/>
              </a:rPr>
              <a:t>To predict which students are likely to enroll or drop out and design interventions to improve engagement and retention</a:t>
            </a:r>
            <a:r>
              <a:rPr dirty="0" smtClean="0">
                <a:latin typeface="Calisto MT" pitchFamily="18" charset="0"/>
              </a:rPr>
              <a:t>.</a:t>
            </a:r>
            <a:endParaRPr lang="en-US" dirty="0" smtClean="0">
              <a:latin typeface="Calisto MT" pitchFamily="18" charset="0"/>
            </a:endParaRPr>
          </a:p>
          <a:p>
            <a:r>
              <a:rPr lang="en-US" b="1" dirty="0" smtClean="0">
                <a:latin typeface="Calisto MT" pitchFamily="18" charset="0"/>
              </a:rPr>
              <a:t>Presented by</a:t>
            </a:r>
            <a:r>
              <a:rPr lang="en-US" dirty="0" smtClean="0">
                <a:latin typeface="Calisto MT" pitchFamily="18" charset="0"/>
              </a:rPr>
              <a:t> : </a:t>
            </a:r>
            <a:r>
              <a:rPr lang="en-US" b="1" dirty="0" smtClean="0">
                <a:latin typeface="Calisto MT" pitchFamily="18" charset="0"/>
              </a:rPr>
              <a:t>MD.ZEBHA.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144000" cy="288387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sz="4400" dirty="0" smtClean="0">
                <a:latin typeface="Arial Rounded MT Bold" pitchFamily="34" charset="0"/>
              </a:rPr>
              <a:t>S</a:t>
            </a:r>
            <a:r>
              <a:rPr lang="en-US" sz="4400" dirty="0" smtClean="0">
                <a:latin typeface="Arial Rounded MT Bold" pitchFamily="34" charset="0"/>
              </a:rPr>
              <a:t>KILLHIGH</a:t>
            </a:r>
            <a:r>
              <a:rPr sz="4400" dirty="0" smtClean="0">
                <a:latin typeface="Arial Rounded MT Bold" pitchFamily="34" charset="0"/>
              </a:rPr>
              <a:t> D</a:t>
            </a:r>
            <a:r>
              <a:rPr lang="en-US" sz="4400" dirty="0" smtClean="0">
                <a:latin typeface="Arial Rounded MT Bold" pitchFamily="34" charset="0"/>
              </a:rPr>
              <a:t>ATA</a:t>
            </a:r>
            <a:r>
              <a:rPr sz="4400" dirty="0" smtClean="0">
                <a:latin typeface="Arial Rounded MT Bold" pitchFamily="34" charset="0"/>
              </a:rPr>
              <a:t> S</a:t>
            </a:r>
            <a:r>
              <a:rPr lang="en-US" sz="4400" dirty="0" smtClean="0">
                <a:latin typeface="Arial Rounded MT Bold" pitchFamily="34" charset="0"/>
              </a:rPr>
              <a:t>CIENCE</a:t>
            </a:r>
            <a:r>
              <a:rPr sz="4400" dirty="0" smtClean="0">
                <a:latin typeface="Arial Rounded MT Bold" pitchFamily="34" charset="0"/>
              </a:rPr>
              <a:t> C</a:t>
            </a:r>
            <a:r>
              <a:rPr lang="en-US" sz="4400" dirty="0" smtClean="0">
                <a:latin typeface="Arial Rounded MT Bold" pitchFamily="34" charset="0"/>
              </a:rPr>
              <a:t>HALLENGE</a:t>
            </a:r>
            <a:r>
              <a:rPr sz="4400" dirty="0" smtClean="0">
                <a:latin typeface="Arial Rounded MT Bold" pitchFamily="34" charset="0"/>
              </a:rPr>
              <a:t>– S</a:t>
            </a:r>
            <a:r>
              <a:rPr lang="en-US" sz="4400" dirty="0" smtClean="0">
                <a:latin typeface="Arial Rounded MT Bold" pitchFamily="34" charset="0"/>
              </a:rPr>
              <a:t>TUDENT</a:t>
            </a:r>
            <a:r>
              <a:rPr sz="4400" dirty="0" smtClean="0">
                <a:latin typeface="Arial Rounded MT Bold" pitchFamily="34" charset="0"/>
              </a:rPr>
              <a:t> E</a:t>
            </a:r>
            <a:r>
              <a:rPr lang="en-US" sz="4400" dirty="0" smtClean="0">
                <a:latin typeface="Arial Rounded MT Bold" pitchFamily="34" charset="0"/>
              </a:rPr>
              <a:t>NROLLMENT  </a:t>
            </a:r>
            <a:r>
              <a:rPr sz="4400" dirty="0" smtClean="0">
                <a:latin typeface="Arial Rounded MT Bold" pitchFamily="34" charset="0"/>
              </a:rPr>
              <a:t>&amp;</a:t>
            </a:r>
            <a:r>
              <a:rPr lang="en-US" sz="4400" dirty="0" smtClean="0">
                <a:latin typeface="Arial Rounded MT Bold" pitchFamily="34" charset="0"/>
              </a:rPr>
              <a:t> </a:t>
            </a:r>
            <a:r>
              <a:rPr sz="4400" dirty="0" smtClean="0">
                <a:latin typeface="Arial Rounded MT Bold" pitchFamily="34" charset="0"/>
              </a:rPr>
              <a:t> R</a:t>
            </a:r>
            <a:r>
              <a:rPr lang="en-US" sz="4400" dirty="0" smtClean="0">
                <a:latin typeface="Arial Rounded MT Bold" pitchFamily="34" charset="0"/>
              </a:rPr>
              <a:t>ETENTION</a:t>
            </a:r>
            <a:r>
              <a:rPr sz="4400" dirty="0" smtClean="0">
                <a:latin typeface="Arial Rounded MT Bold" pitchFamily="34" charset="0"/>
              </a:rPr>
              <a:t> P</a:t>
            </a:r>
            <a:r>
              <a:rPr lang="en-US" sz="4400" dirty="0" smtClean="0">
                <a:latin typeface="Arial Rounded MT Bold" pitchFamily="34" charset="0"/>
              </a:rPr>
              <a:t>REDICTION.</a:t>
            </a:r>
            <a:endParaRPr sz="44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Analyze real-world educational data.</a:t>
            </a:r>
          </a:p>
          <a:p>
            <a:r>
              <a:rPr sz="3200" dirty="0">
                <a:latin typeface="Calisto MT" pitchFamily="18" charset="0"/>
              </a:rPr>
              <a:t>Apply data science techniques to predict student behavior.</a:t>
            </a:r>
          </a:p>
          <a:p>
            <a:r>
              <a:rPr sz="3200" dirty="0">
                <a:latin typeface="Calisto MT" pitchFamily="18" charset="0"/>
              </a:rPr>
              <a:t>Use insights to improve course completion and satisfaction.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 smtClean="0">
                <a:latin typeface="Arial Rounded MT Bold" pitchFamily="34" charset="0"/>
              </a:rPr>
              <a:t>PROJECT OVERVIEW</a:t>
            </a:r>
            <a:endParaRPr sz="66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97538"/>
            <a:ext cx="4791807" cy="4209753"/>
          </a:xfrm>
        </p:spPr>
        <p:txBody>
          <a:bodyPr/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Data Science students and young professionals.</a:t>
            </a:r>
          </a:p>
          <a:p>
            <a:r>
              <a:rPr sz="3200" dirty="0">
                <a:latin typeface="Calisto MT" pitchFamily="18" charset="0"/>
              </a:rPr>
              <a:t>Individuals interested in predictive modeling for education.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6000" dirty="0" smtClean="0">
                <a:latin typeface="Arial Rounded MT Bold" pitchFamily="34" charset="0"/>
              </a:rPr>
              <a:t>T</a:t>
            </a:r>
            <a:r>
              <a:rPr lang="en-US" sz="6000" dirty="0" smtClean="0">
                <a:latin typeface="Arial Rounded MT Bold" pitchFamily="34" charset="0"/>
              </a:rPr>
              <a:t>ARGET AUDIENCE</a:t>
            </a:r>
            <a:endParaRPr sz="6000" dirty="0">
              <a:latin typeface="Arial Rounded MT Bold" pitchFamily="34" charset="0"/>
            </a:endParaRPr>
          </a:p>
        </p:txBody>
      </p:sp>
      <p:pic>
        <p:nvPicPr>
          <p:cNvPr id="24578" name="Picture 2" descr="C:\Users\cs\Documents\AUDIENCE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91807" y="2438400"/>
            <a:ext cx="4352193" cy="28291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891322"/>
            <a:ext cx="4548553" cy="4172439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sz="3600" dirty="0">
                <a:latin typeface="Calisto MT" pitchFamily="18" charset="0"/>
              </a:rPr>
              <a:t>Career-focused, skill-driven programs.</a:t>
            </a:r>
          </a:p>
          <a:p>
            <a:r>
              <a:rPr sz="3600" dirty="0">
                <a:latin typeface="Calisto MT" pitchFamily="18" charset="0"/>
              </a:rPr>
              <a:t>Student-friendly and cost-effective learning.</a:t>
            </a:r>
          </a:p>
          <a:p>
            <a:r>
              <a:rPr sz="3600" dirty="0">
                <a:latin typeface="Calisto MT" pitchFamily="18" charset="0"/>
              </a:rPr>
              <a:t>Data-driven insights to enhance engagement and success.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dirty="0" smtClean="0">
                <a:latin typeface="Arial Rounded MT Bold" pitchFamily="34" charset="0"/>
              </a:rPr>
              <a:t>B</a:t>
            </a:r>
            <a:r>
              <a:rPr lang="en-US" sz="7200" dirty="0" smtClean="0">
                <a:latin typeface="Arial Rounded MT Bold" pitchFamily="34" charset="0"/>
              </a:rPr>
              <a:t>USINESS</a:t>
            </a:r>
            <a:r>
              <a:rPr sz="7200" dirty="0" smtClean="0">
                <a:latin typeface="Arial Rounded MT Bold" pitchFamily="34" charset="0"/>
              </a:rPr>
              <a:t> </a:t>
            </a:r>
            <a:r>
              <a:rPr sz="7200" dirty="0">
                <a:latin typeface="Arial Rounded MT Bold" pitchFamily="34" charset="0"/>
              </a:rPr>
              <a:t>USP</a:t>
            </a:r>
          </a:p>
        </p:txBody>
      </p:sp>
      <p:pic>
        <p:nvPicPr>
          <p:cNvPr id="23554" name="Picture 2" descr="C:\Users\cs\Documents\BUSINES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8554" y="2274277"/>
            <a:ext cx="4595446" cy="35872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47631"/>
            <a:ext cx="4822091" cy="3701752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sz="3500" dirty="0">
                <a:latin typeface="Calisto MT" pitchFamily="18" charset="0"/>
              </a:rPr>
              <a:t>Gather historical registration, course, and engagement data.</a:t>
            </a:r>
          </a:p>
          <a:p>
            <a:r>
              <a:rPr sz="3500" dirty="0">
                <a:latin typeface="Calisto MT" pitchFamily="18" charset="0"/>
              </a:rPr>
              <a:t>Handle missing values and duplicates.</a:t>
            </a:r>
          </a:p>
          <a:p>
            <a:r>
              <a:rPr sz="3500" dirty="0">
                <a:latin typeface="Calisto MT" pitchFamily="18" charset="0"/>
              </a:rPr>
              <a:t>Standardize categorical variables.</a:t>
            </a:r>
          </a:p>
          <a:p>
            <a:r>
              <a:rPr sz="3500" dirty="0">
                <a:latin typeface="Calisto MT" pitchFamily="18" charset="0"/>
              </a:rPr>
              <a:t>Perform feature engineering (e.g., engagement score, login frequency).</a:t>
            </a:r>
            <a:endParaRPr sz="3200" dirty="0">
              <a:latin typeface="Calisto MT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492737"/>
          </a:xfrm>
        </p:spPr>
        <p:txBody>
          <a:bodyPr>
            <a:noAutofit/>
          </a:bodyPr>
          <a:lstStyle/>
          <a:p>
            <a:r>
              <a:rPr sz="5400" dirty="0" smtClean="0">
                <a:latin typeface="Arial Rounded MT Bold" pitchFamily="34" charset="0"/>
              </a:rPr>
              <a:t>S</a:t>
            </a:r>
            <a:r>
              <a:rPr lang="en-US" sz="5400" dirty="0" smtClean="0">
                <a:latin typeface="Arial Rounded MT Bold" pitchFamily="34" charset="0"/>
              </a:rPr>
              <a:t>TEP</a:t>
            </a:r>
            <a:r>
              <a:rPr sz="5400" dirty="0" smtClean="0">
                <a:latin typeface="Arial Rounded MT Bold" pitchFamily="34" charset="0"/>
              </a:rPr>
              <a:t> </a:t>
            </a:r>
            <a:r>
              <a:rPr sz="5400" dirty="0">
                <a:latin typeface="Arial Rounded MT Bold" pitchFamily="34" charset="0"/>
              </a:rPr>
              <a:t>1 – </a:t>
            </a:r>
            <a:r>
              <a:rPr sz="4800" dirty="0" smtClean="0">
                <a:latin typeface="Arial Rounded MT Bold" pitchFamily="34" charset="0"/>
              </a:rPr>
              <a:t>D</a:t>
            </a:r>
            <a:r>
              <a:rPr lang="en-US" sz="4800" dirty="0" smtClean="0">
                <a:latin typeface="Arial Rounded MT Bold" pitchFamily="34" charset="0"/>
              </a:rPr>
              <a:t>ATA</a:t>
            </a:r>
            <a:r>
              <a:rPr sz="4800" dirty="0" smtClean="0">
                <a:latin typeface="Arial Rounded MT Bold" pitchFamily="34" charset="0"/>
              </a:rPr>
              <a:t>C</a:t>
            </a:r>
            <a:r>
              <a:rPr lang="en-US" sz="4800" dirty="0" smtClean="0">
                <a:latin typeface="Arial Rounded MT Bold" pitchFamily="34" charset="0"/>
              </a:rPr>
              <a:t>OLLECTION</a:t>
            </a:r>
            <a:r>
              <a:rPr sz="5400" dirty="0" smtClean="0">
                <a:latin typeface="Arial Rounded MT Bold" pitchFamily="34" charset="0"/>
              </a:rPr>
              <a:t> </a:t>
            </a:r>
            <a:r>
              <a:rPr lang="en-US" sz="5400" dirty="0" smtClean="0">
                <a:latin typeface="Arial Rounded MT Bold" pitchFamily="34" charset="0"/>
              </a:rPr>
              <a:t>                               </a:t>
            </a:r>
            <a:r>
              <a:rPr lang="en-US" sz="4800" dirty="0" smtClean="0">
                <a:latin typeface="Arial Rounded MT Bold" pitchFamily="34" charset="0"/>
              </a:rPr>
              <a:t>&amp;</a:t>
            </a:r>
            <a:r>
              <a:rPr sz="4800" dirty="0" smtClean="0">
                <a:latin typeface="Arial Rounded MT Bold" pitchFamily="34" charset="0"/>
              </a:rPr>
              <a:t> C</a:t>
            </a:r>
            <a:r>
              <a:rPr lang="en-US" sz="4800" dirty="0" smtClean="0">
                <a:latin typeface="Arial Rounded MT Bold" pitchFamily="34" charset="0"/>
              </a:rPr>
              <a:t>LEANING</a:t>
            </a:r>
            <a:endParaRPr sz="5400" dirty="0">
              <a:latin typeface="Arial Rounded MT Bold" pitchFamily="34" charset="0"/>
            </a:endParaRPr>
          </a:p>
        </p:txBody>
      </p:sp>
      <p:pic>
        <p:nvPicPr>
          <p:cNvPr id="22530" name="Picture 2" descr="C:\Users\cs\Documents\CLEANING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2090" y="2172677"/>
            <a:ext cx="4321909" cy="33059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63262"/>
            <a:ext cx="5103446" cy="3563815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Analyze demographics, course popularity, and engagement trends.</a:t>
            </a:r>
          </a:p>
          <a:p>
            <a:r>
              <a:rPr sz="3200" dirty="0">
                <a:latin typeface="Calisto MT" pitchFamily="18" charset="0"/>
              </a:rPr>
              <a:t>Visualize correlations between features and outcomes.</a:t>
            </a:r>
          </a:p>
          <a:p>
            <a:r>
              <a:rPr sz="3200" dirty="0">
                <a:latin typeface="Calisto MT" pitchFamily="18" charset="0"/>
              </a:rPr>
              <a:t>Identify factors influencing dropout and enrollment.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Autofit/>
          </a:bodyPr>
          <a:lstStyle/>
          <a:p>
            <a:r>
              <a:rPr sz="4800" dirty="0" smtClean="0">
                <a:latin typeface="Arial Rounded MT Bold" pitchFamily="34" charset="0"/>
              </a:rPr>
              <a:t>S</a:t>
            </a:r>
            <a:r>
              <a:rPr lang="en-US" sz="4800" dirty="0" smtClean="0">
                <a:latin typeface="Arial Rounded MT Bold" pitchFamily="34" charset="0"/>
              </a:rPr>
              <a:t>TEP</a:t>
            </a:r>
            <a:r>
              <a:rPr sz="4800" dirty="0" smtClean="0">
                <a:latin typeface="Arial Rounded MT Bold" pitchFamily="34" charset="0"/>
              </a:rPr>
              <a:t> </a:t>
            </a:r>
            <a:r>
              <a:rPr sz="4800" dirty="0">
                <a:latin typeface="Arial Rounded MT Bold" pitchFamily="34" charset="0"/>
              </a:rPr>
              <a:t>2 – </a:t>
            </a:r>
            <a:r>
              <a:rPr sz="4800" dirty="0" smtClean="0">
                <a:latin typeface="Arial Rounded MT Bold" pitchFamily="34" charset="0"/>
              </a:rPr>
              <a:t>E</a:t>
            </a:r>
            <a:r>
              <a:rPr lang="en-US" sz="4800" dirty="0" smtClean="0">
                <a:latin typeface="Arial Rounded MT Bold" pitchFamily="34" charset="0"/>
              </a:rPr>
              <a:t>XPLORATORY</a:t>
            </a:r>
            <a:r>
              <a:rPr sz="4800" dirty="0" smtClean="0">
                <a:latin typeface="Arial Rounded MT Bold" pitchFamily="34" charset="0"/>
              </a:rPr>
              <a:t> D</a:t>
            </a:r>
            <a:r>
              <a:rPr lang="en-US" sz="4800" dirty="0" smtClean="0">
                <a:latin typeface="Arial Rounded MT Bold" pitchFamily="34" charset="0"/>
              </a:rPr>
              <a:t>ATA</a:t>
            </a:r>
            <a:r>
              <a:rPr sz="4800" dirty="0" smtClean="0">
                <a:latin typeface="Arial Rounded MT Bold" pitchFamily="34" charset="0"/>
              </a:rPr>
              <a:t> A</a:t>
            </a:r>
            <a:r>
              <a:rPr lang="en-US" sz="4800" dirty="0" smtClean="0">
                <a:latin typeface="Arial Rounded MT Bold" pitchFamily="34" charset="0"/>
              </a:rPr>
              <a:t>NALYSIS</a:t>
            </a:r>
            <a:r>
              <a:rPr sz="4800" dirty="0" smtClean="0">
                <a:latin typeface="Arial Rounded MT Bold" pitchFamily="34" charset="0"/>
              </a:rPr>
              <a:t> </a:t>
            </a:r>
            <a:r>
              <a:rPr sz="4800" dirty="0">
                <a:latin typeface="Arial Rounded MT Bold" pitchFamily="34" charset="0"/>
              </a:rPr>
              <a:t>(</a:t>
            </a:r>
            <a:r>
              <a:rPr sz="4800" dirty="0" smtClean="0">
                <a:latin typeface="Arial Rounded MT Bold" pitchFamily="34" charset="0"/>
              </a:rPr>
              <a:t>EDA</a:t>
            </a:r>
            <a:r>
              <a:rPr lang="en-US" sz="4800" dirty="0" smtClean="0">
                <a:latin typeface="Arial Rounded MT Bold" pitchFamily="34" charset="0"/>
              </a:rPr>
              <a:t>)</a:t>
            </a:r>
            <a:endParaRPr sz="4800" dirty="0">
              <a:latin typeface="Arial Rounded MT Bold" pitchFamily="34" charset="0"/>
            </a:endParaRPr>
          </a:p>
        </p:txBody>
      </p:sp>
      <p:pic>
        <p:nvPicPr>
          <p:cNvPr id="21506" name="Picture 2" descr="C:\Users\cs\Documents\EXPLOR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3446" y="2477477"/>
            <a:ext cx="4040554" cy="30167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2831"/>
            <a:ext cx="5017477" cy="4264460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Use algorithms like Logistic Regression, Random Forest, and </a:t>
            </a:r>
            <a:r>
              <a:rPr sz="3200" dirty="0" err="1">
                <a:latin typeface="Calisto MT" pitchFamily="18" charset="0"/>
              </a:rPr>
              <a:t>XGBoost</a:t>
            </a:r>
            <a:r>
              <a:rPr sz="3200" dirty="0">
                <a:latin typeface="Calisto MT" pitchFamily="18" charset="0"/>
              </a:rPr>
              <a:t>.</a:t>
            </a:r>
          </a:p>
          <a:p>
            <a:r>
              <a:rPr sz="3200" dirty="0">
                <a:latin typeface="Calisto MT" pitchFamily="18" charset="0"/>
              </a:rPr>
              <a:t>Split data into training/testing sets.</a:t>
            </a:r>
          </a:p>
          <a:p>
            <a:r>
              <a:rPr sz="3200" dirty="0">
                <a:latin typeface="Calisto MT" pitchFamily="18" charset="0"/>
              </a:rPr>
              <a:t>Apply cross-validation for robust performance.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Autofit/>
          </a:bodyPr>
          <a:lstStyle/>
          <a:p>
            <a:r>
              <a:rPr sz="4800" dirty="0" smtClean="0">
                <a:latin typeface="Arial Rounded MT Bold" pitchFamily="34" charset="0"/>
              </a:rPr>
              <a:t>S</a:t>
            </a:r>
            <a:r>
              <a:rPr lang="en-US" sz="4800" dirty="0" smtClean="0">
                <a:latin typeface="Arial Rounded MT Bold" pitchFamily="34" charset="0"/>
              </a:rPr>
              <a:t>TEP</a:t>
            </a:r>
            <a:r>
              <a:rPr sz="4800" dirty="0" smtClean="0">
                <a:latin typeface="Arial Rounded MT Bold" pitchFamily="34" charset="0"/>
              </a:rPr>
              <a:t> </a:t>
            </a:r>
            <a:r>
              <a:rPr sz="4800" dirty="0">
                <a:latin typeface="Arial Rounded MT Bold" pitchFamily="34" charset="0"/>
              </a:rPr>
              <a:t>3 – </a:t>
            </a:r>
            <a:r>
              <a:rPr sz="4800" dirty="0" smtClean="0">
                <a:latin typeface="Arial Rounded MT Bold" pitchFamily="34" charset="0"/>
              </a:rPr>
              <a:t>P</a:t>
            </a:r>
            <a:r>
              <a:rPr lang="en-US" sz="4800" dirty="0" smtClean="0">
                <a:latin typeface="Arial Rounded MT Bold" pitchFamily="34" charset="0"/>
              </a:rPr>
              <a:t>REDICTIVE</a:t>
            </a:r>
            <a:r>
              <a:rPr sz="4800" dirty="0" smtClean="0">
                <a:latin typeface="Arial Rounded MT Bold" pitchFamily="34" charset="0"/>
              </a:rPr>
              <a:t> M</a:t>
            </a:r>
            <a:r>
              <a:rPr lang="en-US" sz="4800" dirty="0" smtClean="0">
                <a:latin typeface="Arial Rounded MT Bold" pitchFamily="34" charset="0"/>
              </a:rPr>
              <a:t>ODELING</a:t>
            </a:r>
            <a:endParaRPr sz="4800" dirty="0">
              <a:latin typeface="Arial Rounded MT Bold" pitchFamily="34" charset="0"/>
            </a:endParaRPr>
          </a:p>
        </p:txBody>
      </p:sp>
      <p:pic>
        <p:nvPicPr>
          <p:cNvPr id="20482" name="Picture 2" descr="C:\Users\cs\Documents\PREDICTIVE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17477" y="2243015"/>
            <a:ext cx="4018818" cy="3764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9969"/>
            <a:ext cx="4900246" cy="4397322"/>
          </a:xfrm>
        </p:spPr>
        <p:txBody>
          <a:bodyPr/>
          <a:lstStyle/>
          <a:p>
            <a:endParaRPr dirty="0"/>
          </a:p>
          <a:p>
            <a:r>
              <a:rPr sz="3200" b="1" dirty="0">
                <a:latin typeface="Calisto MT" pitchFamily="18" charset="0"/>
              </a:rPr>
              <a:t>Evaluate models using metrics</a:t>
            </a:r>
            <a:r>
              <a:rPr sz="3200" dirty="0">
                <a:latin typeface="Calisto MT" pitchFamily="18" charset="0"/>
              </a:rPr>
              <a:t>: Accuracy, Precision, Recall, F1-score.</a:t>
            </a:r>
          </a:p>
          <a:p>
            <a:r>
              <a:rPr sz="3200" dirty="0">
                <a:latin typeface="Calisto MT" pitchFamily="18" charset="0"/>
              </a:rPr>
              <a:t>Analyze feature importance to interpret key factors.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36431"/>
          </a:xfrm>
        </p:spPr>
        <p:txBody>
          <a:bodyPr>
            <a:noAutofit/>
          </a:bodyPr>
          <a:lstStyle/>
          <a:p>
            <a:r>
              <a:rPr sz="4400" dirty="0" smtClean="0">
                <a:latin typeface="Arial Rounded MT Bold" pitchFamily="34" charset="0"/>
              </a:rPr>
              <a:t>S</a:t>
            </a:r>
            <a:r>
              <a:rPr lang="en-US" sz="4400" dirty="0" smtClean="0">
                <a:latin typeface="Arial Rounded MT Bold" pitchFamily="34" charset="0"/>
              </a:rPr>
              <a:t>TEP</a:t>
            </a:r>
            <a:r>
              <a:rPr sz="4400" dirty="0" smtClean="0">
                <a:latin typeface="Arial Rounded MT Bold" pitchFamily="34" charset="0"/>
              </a:rPr>
              <a:t> </a:t>
            </a:r>
            <a:r>
              <a:rPr sz="4400" dirty="0">
                <a:latin typeface="Arial Rounded MT Bold" pitchFamily="34" charset="0"/>
              </a:rPr>
              <a:t>4 – </a:t>
            </a:r>
            <a:r>
              <a:rPr sz="4400" dirty="0" smtClean="0">
                <a:latin typeface="Arial Rounded MT Bold" pitchFamily="34" charset="0"/>
              </a:rPr>
              <a:t>M</a:t>
            </a:r>
            <a:r>
              <a:rPr lang="en-US" sz="4400" dirty="0" smtClean="0">
                <a:latin typeface="Arial Rounded MT Bold" pitchFamily="34" charset="0"/>
              </a:rPr>
              <a:t>ODEL</a:t>
            </a:r>
            <a:r>
              <a:rPr sz="4400" dirty="0" smtClean="0">
                <a:latin typeface="Arial Rounded MT Bold" pitchFamily="34" charset="0"/>
              </a:rPr>
              <a:t> E</a:t>
            </a:r>
            <a:r>
              <a:rPr lang="en-US" sz="4400" dirty="0" smtClean="0">
                <a:latin typeface="Arial Rounded MT Bold" pitchFamily="34" charset="0"/>
              </a:rPr>
              <a:t>VALUATION</a:t>
            </a:r>
            <a:endParaRPr sz="4400" dirty="0">
              <a:latin typeface="Arial Rounded MT Bold" pitchFamily="34" charset="0"/>
            </a:endParaRPr>
          </a:p>
        </p:txBody>
      </p:sp>
      <p:pic>
        <p:nvPicPr>
          <p:cNvPr id="19460" name="Picture 4" descr="C:\Users\cs\Documents\EVAL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36123" y="2289908"/>
            <a:ext cx="4407877" cy="33137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672492"/>
            <a:ext cx="4697046" cy="4334799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Identify students at high risk of dropout.</a:t>
            </a:r>
          </a:p>
          <a:p>
            <a:r>
              <a:rPr sz="3200" dirty="0">
                <a:latin typeface="Calisto MT" pitchFamily="18" charset="0"/>
              </a:rPr>
              <a:t>Suggest personalized interventions.</a:t>
            </a:r>
          </a:p>
          <a:p>
            <a:r>
              <a:rPr sz="3200" dirty="0">
                <a:latin typeface="Calisto MT" pitchFamily="18" charset="0"/>
              </a:rPr>
              <a:t>Recommend targeted marketing strategies.</a:t>
            </a:r>
          </a:p>
          <a:p>
            <a:r>
              <a:rPr sz="3200" dirty="0">
                <a:latin typeface="Calisto MT" pitchFamily="18" charset="0"/>
              </a:rPr>
              <a:t>Improve platform engagement and experience.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Autofit/>
          </a:bodyPr>
          <a:lstStyle/>
          <a:p>
            <a:r>
              <a:rPr sz="4000" dirty="0" smtClean="0">
                <a:latin typeface="Arial Rounded MT Bold" pitchFamily="34" charset="0"/>
              </a:rPr>
              <a:t>S</a:t>
            </a:r>
            <a:r>
              <a:rPr lang="en-US" sz="4000" dirty="0" smtClean="0">
                <a:latin typeface="Arial Rounded MT Bold" pitchFamily="34" charset="0"/>
              </a:rPr>
              <a:t>TEP</a:t>
            </a:r>
            <a:r>
              <a:rPr sz="4000" dirty="0" smtClean="0">
                <a:latin typeface="Arial Rounded MT Bold" pitchFamily="34" charset="0"/>
              </a:rPr>
              <a:t> </a:t>
            </a:r>
            <a:r>
              <a:rPr sz="4000" dirty="0">
                <a:latin typeface="Arial Rounded MT Bold" pitchFamily="34" charset="0"/>
              </a:rPr>
              <a:t>5 – </a:t>
            </a:r>
            <a:r>
              <a:rPr sz="4000" dirty="0" smtClean="0">
                <a:latin typeface="Arial Rounded MT Bold" pitchFamily="34" charset="0"/>
              </a:rPr>
              <a:t>A</a:t>
            </a:r>
            <a:r>
              <a:rPr lang="en-US" sz="4000" dirty="0" smtClean="0">
                <a:latin typeface="Arial Rounded MT Bold" pitchFamily="34" charset="0"/>
              </a:rPr>
              <a:t>CTIONABLE</a:t>
            </a:r>
            <a:r>
              <a:rPr sz="4000" dirty="0" smtClean="0">
                <a:latin typeface="Arial Rounded MT Bold" pitchFamily="34" charset="0"/>
              </a:rPr>
              <a:t> I</a:t>
            </a:r>
            <a:r>
              <a:rPr lang="en-US" sz="4000" dirty="0" smtClean="0">
                <a:latin typeface="Arial Rounded MT Bold" pitchFamily="34" charset="0"/>
              </a:rPr>
              <a:t>NSIGHTS</a:t>
            </a:r>
            <a:r>
              <a:rPr sz="4000" dirty="0" smtClean="0">
                <a:latin typeface="Arial Rounded MT Bold" pitchFamily="34" charset="0"/>
              </a:rPr>
              <a:t> </a:t>
            </a:r>
            <a:r>
              <a:rPr sz="4000" dirty="0">
                <a:latin typeface="Arial Rounded MT Bold" pitchFamily="34" charset="0"/>
              </a:rPr>
              <a:t>&amp; </a:t>
            </a:r>
            <a:r>
              <a:rPr sz="4000" dirty="0" smtClean="0">
                <a:latin typeface="Arial Rounded MT Bold" pitchFamily="34" charset="0"/>
              </a:rPr>
              <a:t>R</a:t>
            </a:r>
            <a:r>
              <a:rPr lang="en-US" sz="4000" dirty="0" smtClean="0">
                <a:latin typeface="Arial Rounded MT Bold" pitchFamily="34" charset="0"/>
              </a:rPr>
              <a:t>ECOMMENDADTION</a:t>
            </a:r>
            <a:endParaRPr sz="4000" dirty="0">
              <a:latin typeface="Arial Rounded MT Bold" pitchFamily="34" charset="0"/>
            </a:endParaRPr>
          </a:p>
        </p:txBody>
      </p:sp>
      <p:pic>
        <p:nvPicPr>
          <p:cNvPr id="18434" name="Picture 2" descr="C:\Users\cs\Documents\ACTIONABL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0400" y="2117969"/>
            <a:ext cx="4673600" cy="37826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7538"/>
            <a:ext cx="8229600" cy="4209753"/>
          </a:xfrm>
        </p:spPr>
        <p:txBody>
          <a:bodyPr/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Compare with similar </a:t>
            </a:r>
            <a:r>
              <a:rPr sz="3200" dirty="0" err="1">
                <a:latin typeface="Calisto MT" pitchFamily="18" charset="0"/>
              </a:rPr>
              <a:t>EdTech</a:t>
            </a:r>
            <a:r>
              <a:rPr sz="3200" dirty="0">
                <a:latin typeface="Calisto MT" pitchFamily="18" charset="0"/>
              </a:rPr>
              <a:t> platforms.</a:t>
            </a:r>
          </a:p>
          <a:p>
            <a:r>
              <a:rPr sz="3200" dirty="0">
                <a:latin typeface="Calisto MT" pitchFamily="18" charset="0"/>
              </a:rPr>
              <a:t>Create engagement dashboards (Tableau, Power BI, Python).</a:t>
            </a:r>
          </a:p>
          <a:p>
            <a:r>
              <a:rPr sz="3200" dirty="0">
                <a:latin typeface="Calisto MT" pitchFamily="18" charset="0"/>
              </a:rPr>
              <a:t>Design automated communication strategies.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156676"/>
          </a:xfrm>
        </p:spPr>
        <p:txBody>
          <a:bodyPr>
            <a:noAutofit/>
          </a:bodyPr>
          <a:lstStyle/>
          <a:p>
            <a:r>
              <a:rPr sz="5400" dirty="0" smtClean="0">
                <a:latin typeface="Arial Rounded MT Bold" pitchFamily="34" charset="0"/>
              </a:rPr>
              <a:t>O</a:t>
            </a:r>
            <a:r>
              <a:rPr lang="en-US" sz="5400" dirty="0" smtClean="0">
                <a:latin typeface="Arial Rounded MT Bold" pitchFamily="34" charset="0"/>
              </a:rPr>
              <a:t>PTIONAL</a:t>
            </a:r>
            <a:r>
              <a:rPr sz="5400" dirty="0" smtClean="0">
                <a:latin typeface="Arial Rounded MT Bold" pitchFamily="34" charset="0"/>
              </a:rPr>
              <a:t> </a:t>
            </a:r>
            <a:r>
              <a:rPr sz="5400" dirty="0">
                <a:latin typeface="Arial Rounded MT Bold" pitchFamily="34" charset="0"/>
              </a:rPr>
              <a:t>(Bonus Points)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8123"/>
            <a:ext cx="8229600" cy="4319168"/>
          </a:xfrm>
        </p:spPr>
        <p:txBody>
          <a:bodyPr/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Data Cleaning &amp; Preprocessing </a:t>
            </a:r>
            <a:r>
              <a:rPr sz="3200" dirty="0" smtClean="0">
                <a:latin typeface="Calisto MT" pitchFamily="18" charset="0"/>
              </a:rPr>
              <a:t>Report</a:t>
            </a:r>
            <a:r>
              <a:rPr lang="en-US" sz="3200" dirty="0" smtClean="0">
                <a:latin typeface="Calisto MT" pitchFamily="18" charset="0"/>
              </a:rPr>
              <a:t>.</a:t>
            </a:r>
            <a:endParaRPr sz="3200" dirty="0">
              <a:latin typeface="Calisto MT" pitchFamily="18" charset="0"/>
            </a:endParaRPr>
          </a:p>
          <a:p>
            <a:r>
              <a:rPr sz="3200" dirty="0">
                <a:latin typeface="Calisto MT" pitchFamily="18" charset="0"/>
              </a:rPr>
              <a:t>Predictive Model with </a:t>
            </a:r>
            <a:r>
              <a:rPr sz="3200" dirty="0" smtClean="0">
                <a:latin typeface="Calisto MT" pitchFamily="18" charset="0"/>
              </a:rPr>
              <a:t>Metrics</a:t>
            </a:r>
            <a:r>
              <a:rPr lang="en-US" sz="3200" dirty="0" smtClean="0">
                <a:latin typeface="Calisto MT" pitchFamily="18" charset="0"/>
              </a:rPr>
              <a:t>.</a:t>
            </a:r>
            <a:endParaRPr sz="3200" dirty="0">
              <a:latin typeface="Calisto MT" pitchFamily="18" charset="0"/>
            </a:endParaRPr>
          </a:p>
          <a:p>
            <a:r>
              <a:rPr sz="3200" dirty="0">
                <a:latin typeface="Calisto MT" pitchFamily="18" charset="0"/>
              </a:rPr>
              <a:t>Actionable Insights </a:t>
            </a:r>
            <a:r>
              <a:rPr sz="3200" dirty="0" smtClean="0">
                <a:latin typeface="Calisto MT" pitchFamily="18" charset="0"/>
              </a:rPr>
              <a:t>Report</a:t>
            </a:r>
            <a:r>
              <a:rPr lang="en-US" sz="3200" dirty="0" smtClean="0">
                <a:latin typeface="Calisto MT" pitchFamily="18" charset="0"/>
              </a:rPr>
              <a:t>.</a:t>
            </a:r>
            <a:endParaRPr sz="3200" dirty="0">
              <a:latin typeface="Calisto MT" pitchFamily="18" charset="0"/>
            </a:endParaRPr>
          </a:p>
          <a:p>
            <a:r>
              <a:rPr sz="3200" dirty="0">
                <a:latin typeface="Calisto MT" pitchFamily="18" charset="0"/>
              </a:rPr>
              <a:t>Optional </a:t>
            </a:r>
            <a:r>
              <a:rPr sz="3200" dirty="0" smtClean="0">
                <a:latin typeface="Calisto MT" pitchFamily="18" charset="0"/>
              </a:rPr>
              <a:t>Dashboard</a:t>
            </a:r>
            <a:r>
              <a:rPr lang="en-US" sz="3200" dirty="0" smtClean="0">
                <a:latin typeface="Calisto MT" pitchFamily="18" charset="0"/>
              </a:rPr>
              <a:t>.</a:t>
            </a:r>
            <a:endParaRPr dirty="0">
              <a:latin typeface="Calisto MT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sz="6000" dirty="0" smtClean="0">
                <a:latin typeface="Arial Rounded MT Bold" pitchFamily="34" charset="0"/>
              </a:rPr>
              <a:t>D</a:t>
            </a:r>
            <a:r>
              <a:rPr lang="en-US" sz="6000" dirty="0" smtClean="0">
                <a:latin typeface="Arial Rounded MT Bold" pitchFamily="34" charset="0"/>
              </a:rPr>
              <a:t>ELIVERABLES</a:t>
            </a:r>
            <a:endParaRPr sz="60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Practicality (40%) – Realistic insights.</a:t>
            </a:r>
          </a:p>
          <a:p>
            <a:r>
              <a:rPr sz="3200" dirty="0">
                <a:latin typeface="Calisto MT" pitchFamily="18" charset="0"/>
              </a:rPr>
              <a:t>Creativity (20%) – Innovative modeling.</a:t>
            </a:r>
          </a:p>
          <a:p>
            <a:r>
              <a:rPr sz="3200" dirty="0">
                <a:latin typeface="Calisto MT" pitchFamily="18" charset="0"/>
              </a:rPr>
              <a:t>Completeness (20%) – All tasks executed.</a:t>
            </a:r>
          </a:p>
          <a:p>
            <a:r>
              <a:rPr sz="3200" dirty="0">
                <a:latin typeface="Calisto MT" pitchFamily="18" charset="0"/>
              </a:rPr>
              <a:t>Presentation (10%) – Professional reporting.</a:t>
            </a:r>
          </a:p>
          <a:p>
            <a:r>
              <a:rPr sz="3200" dirty="0">
                <a:latin typeface="Calisto MT" pitchFamily="18" charset="0"/>
              </a:rPr>
              <a:t>Bonus (10%) – Advanced analytics and dashboards.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09786"/>
          </a:xfrm>
        </p:spPr>
        <p:txBody>
          <a:bodyPr>
            <a:normAutofit/>
          </a:bodyPr>
          <a:lstStyle/>
          <a:p>
            <a:r>
              <a:rPr sz="6000" dirty="0" smtClean="0">
                <a:latin typeface="Arial Rounded MT Bold" pitchFamily="34" charset="0"/>
              </a:rPr>
              <a:t>E</a:t>
            </a:r>
            <a:r>
              <a:rPr lang="en-US" sz="6000" dirty="0" smtClean="0">
                <a:latin typeface="Arial Rounded MT Bold" pitchFamily="34" charset="0"/>
              </a:rPr>
              <a:t>VALUATION </a:t>
            </a:r>
            <a:r>
              <a:rPr sz="6000" dirty="0" smtClean="0">
                <a:latin typeface="Arial Rounded MT Bold" pitchFamily="34" charset="0"/>
              </a:rPr>
              <a:t>C</a:t>
            </a:r>
            <a:r>
              <a:rPr lang="en-US" sz="6000" dirty="0" smtClean="0">
                <a:latin typeface="Arial Rounded MT Bold" pitchFamily="34" charset="0"/>
              </a:rPr>
              <a:t>RITERIA</a:t>
            </a:r>
            <a:endParaRPr sz="60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7200"/>
            <a:ext cx="8229600" cy="4280091"/>
          </a:xfrm>
        </p:spPr>
        <p:txBody>
          <a:bodyPr/>
          <a:lstStyle/>
          <a:p>
            <a:endParaRPr dirty="0"/>
          </a:p>
          <a:p>
            <a:r>
              <a:rPr sz="3200" dirty="0">
                <a:latin typeface="Calisto MT" pitchFamily="18" charset="0"/>
              </a:rPr>
              <a:t>Predictive analytics can greatly enhance student </a:t>
            </a:r>
            <a:r>
              <a:rPr sz="3200" dirty="0" err="1" smtClean="0">
                <a:latin typeface="Calisto MT" pitchFamily="18" charset="0"/>
              </a:rPr>
              <a:t>retention.SkillHigh’s</a:t>
            </a:r>
            <a:r>
              <a:rPr sz="3200" dirty="0" smtClean="0">
                <a:latin typeface="Calisto MT" pitchFamily="18" charset="0"/>
              </a:rPr>
              <a:t> </a:t>
            </a:r>
            <a:r>
              <a:rPr sz="3200" dirty="0">
                <a:latin typeface="Calisto MT" pitchFamily="18" charset="0"/>
              </a:rPr>
              <a:t>data-driven approach ensures better engagement and </a:t>
            </a:r>
            <a:r>
              <a:rPr sz="3200" dirty="0" err="1" smtClean="0">
                <a:latin typeface="Calisto MT" pitchFamily="18" charset="0"/>
              </a:rPr>
              <a:t>outcomes.Continuous</a:t>
            </a:r>
            <a:r>
              <a:rPr sz="3200" dirty="0" smtClean="0">
                <a:latin typeface="Calisto MT" pitchFamily="18" charset="0"/>
              </a:rPr>
              <a:t> </a:t>
            </a:r>
            <a:r>
              <a:rPr sz="3200" dirty="0">
                <a:latin typeface="Calisto MT" pitchFamily="18" charset="0"/>
              </a:rPr>
              <a:t>improvement through insights and automation.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sz="5400" dirty="0" smtClean="0">
                <a:latin typeface="Arial Rounded MT Bold" pitchFamily="34" charset="0"/>
              </a:rPr>
              <a:t>C</a:t>
            </a:r>
            <a:r>
              <a:rPr lang="en-US" sz="5400" dirty="0" smtClean="0">
                <a:latin typeface="Arial Rounded MT Bold" pitchFamily="34" charset="0"/>
              </a:rPr>
              <a:t>ONCLUSION</a:t>
            </a:r>
            <a:endParaRPr sz="54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9322" y="5775569"/>
            <a:ext cx="3747477" cy="1082430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r>
              <a:rPr dirty="0"/>
              <a:t>Contact: </a:t>
            </a:r>
            <a:r>
              <a:rPr dirty="0" err="1"/>
              <a:t>SkillHigh</a:t>
            </a:r>
            <a:r>
              <a:rPr dirty="0"/>
              <a:t> Data Science Team</a:t>
            </a:r>
          </a:p>
          <a:p>
            <a:r>
              <a:rPr dirty="0"/>
              <a:t>Submission Deadline: </a:t>
            </a:r>
            <a:r>
              <a:rPr lang="en-US" dirty="0" smtClean="0"/>
              <a:t>30</a:t>
            </a:r>
            <a:r>
              <a:rPr lang="en-US" baseline="30000" dirty="0" smtClean="0"/>
              <a:t>th</a:t>
            </a:r>
            <a:r>
              <a:rPr lang="en-US" dirty="0" smtClean="0"/>
              <a:t>-9-</a:t>
            </a:r>
            <a:r>
              <a:rPr dirty="0" smtClean="0"/>
              <a:t>2025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4237"/>
            <a:ext cx="8229600" cy="4383332"/>
          </a:xfrm>
        </p:spPr>
        <p:txBody>
          <a:bodyPr/>
          <a:lstStyle/>
          <a:p>
            <a:r>
              <a:rPr lang="en-US" dirty="0" smtClean="0"/>
              <a:t>              </a:t>
            </a:r>
            <a:r>
              <a:rPr dirty="0" smtClean="0"/>
              <a:t>T</a:t>
            </a:r>
            <a:r>
              <a:rPr lang="en-US" dirty="0" smtClean="0"/>
              <a:t>HANK YOU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50</TotalTime>
  <Words>393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Concourse</vt:lpstr>
      <vt:lpstr>SKILLHIGH DATA SCIENCE CHALLENGE– STUDENT ENROLLMENT  &amp;  RETENTION PREDICTION.</vt:lpstr>
      <vt:lpstr>PROJECT OVERVIEW</vt:lpstr>
      <vt:lpstr>TARGET AUDIENCE</vt:lpstr>
      <vt:lpstr>BUSINESS USP</vt:lpstr>
      <vt:lpstr>STEP 1 – DATACOLLECTION                                &amp; CLEANING</vt:lpstr>
      <vt:lpstr>STEP 2 – EXPLORATORY DATA ANALYSIS (EDA)</vt:lpstr>
      <vt:lpstr>STEP 3 – PREDICTIVE MODELING</vt:lpstr>
      <vt:lpstr>STEP 4 – MODEL EVALUATION</vt:lpstr>
      <vt:lpstr>STEP 5 – ACTIONABLE INSIGHTS &amp; RECOMMENDADTION</vt:lpstr>
      <vt:lpstr>OPTIONAL (Bonus Points)</vt:lpstr>
      <vt:lpstr>DELIVERABLES</vt:lpstr>
      <vt:lpstr>EVALUATION CRITERIA</vt:lpstr>
      <vt:lpstr>CONCLUSION</vt:lpstr>
      <vt:lpstr>              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SKILLHIGH DATA SCIENCE CHALLENGE– STUDENT ENROLLMENT  &amp;  RETENTION PREDICTION.</dc:title>
  <dc:creator>cs</dc:creator>
  <dc:description>generated using python-pptx</dc:description>
  <cp:lastModifiedBy>cs</cp:lastModifiedBy>
  <cp:revision>7</cp:revision>
  <dcterms:created xsi:type="dcterms:W3CDTF">2013-01-27T09:14:16Z</dcterms:created>
  <dcterms:modified xsi:type="dcterms:W3CDTF">2025-11-04T16:55:07Z</dcterms:modified>
</cp:coreProperties>
</file>